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015" autoAdjust="0"/>
  </p:normalViewPr>
  <p:slideViewPr>
    <p:cSldViewPr snapToGrid="0">
      <p:cViewPr varScale="1">
        <p:scale>
          <a:sx n="97" d="100"/>
          <a:sy n="97" d="100"/>
        </p:scale>
        <p:origin x="11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ñalver Perez, Carlos" userId="594b3b4d-5ebb-45b3-b61c-633a0a3e6b43" providerId="ADAL" clId="{34744B62-D33E-4146-A507-6CB7E3B24C94}"/>
    <pc:docChg chg="modSld">
      <pc:chgData name="Peñalver Perez, Carlos" userId="594b3b4d-5ebb-45b3-b61c-633a0a3e6b43" providerId="ADAL" clId="{34744B62-D33E-4146-A507-6CB7E3B24C94}" dt="2026-09-24T15:47:04.922" v="1" actId="20577"/>
      <pc:docMkLst>
        <pc:docMk/>
      </pc:docMkLst>
      <pc:sldChg chg="modNotesTx">
        <pc:chgData name="Peñalver Perez, Carlos" userId="594b3b4d-5ebb-45b3-b61c-633a0a3e6b43" providerId="ADAL" clId="{34744B62-D33E-4146-A507-6CB7E3B24C94}" dt="2026-09-24T15:47:04.922" v="1" actId="20577"/>
        <pc:sldMkLst>
          <pc:docMk/>
          <pc:sldMk cId="902740386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96F33-560F-4894-A375-CBA0277E7C12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7D04E-443E-4FA0-8326-0DAA8FF4EF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7711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Imaginemos que hoy entran 100 reservas en un hotel. Según el periodo histórico que analizamos, unas 31 acabarían cancelándose. El problema para </a:t>
            </a:r>
            <a:r>
              <a:rPr lang="es-ES" dirty="0" err="1"/>
              <a:t>Revenue</a:t>
            </a:r>
            <a:r>
              <a:rPr lang="es-ES" dirty="0"/>
              <a:t> Management es que, cuando se crea cada reserva, todavía no sabe cuáles serán esas 31.</a:t>
            </a:r>
          </a:p>
          <a:p>
            <a:r>
              <a:rPr lang="es-ES" dirty="0"/>
              <a:t>Revisarlas todas supondría dedicar tiempo y posiblemente incomodar a clientes que sí van a venir. No revisar ninguna deja pasar oportunidades de actuar con antelación. Por eso nos planteamos esta pregunta: ¿podemos identificar desde el momento de la reserva cuáles merecen más atención?</a:t>
            </a:r>
          </a:p>
          <a:p>
            <a:r>
              <a:rPr lang="es-ES" dirty="0"/>
              <a:t>Buenas tardes, soy Carlos Peñalver, hoy voy a presentar mi modelo de Predicción de Cancelación de Reservas Hoteleras.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D04E-443E-4FA0-8326-0DAA8FF4EF5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464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Antes de entrenar el modelo, buscamos patrones en las reservas. El más claro fue la antelación: entre las hechas el mismo día de llegada se canceló el 6,6 %, mientras que en las realizadas con más de 180 días de antelación la tasa llegó al 59,6 %. Además, la cancelación aumenta progresivamente entre ambos extremos. Esto convierte la antelación en una señal útil para priorizar el seguimiento, aunque la diferencia también puede estar relacionada con el hotel, el canal o el tipo de cliente. Y el canal es precisamente el segundo patrón que encontramos.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D04E-443E-4FA0-8326-0DAA8FF4EF5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5314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Las agencias y turoperadores, que en los datos figuran como TA/TO, concentran 54.940 reservas y tienen una tasa de cancelación del 43 %. En el canal directo, esa tasa es del 18,5 %. TA/TO destaca, por tanto, tanto por volumen como por cancelaciones observadas. Pero el canal por sí solo no explica la diferencia: también pueden influir la antelación, el hotel o el tipo de cliente. Para considerar esos factores a la vez, pasamos al modelo.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D04E-443E-4FA0-8326-0DAA8FF4EF5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8010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Antes de elegir el modelo final, empezamos con una regresión logística como referencia. Es un modelo sencillo e interpretable, y nos permite comprobar si merece la pena usar uno más complejo. Comparamos los candidatos mediante validación cruzada temporal: entrenamos con reservas de periodos anteriores y comprobamos cómo funcionan en periodos posteriores. Utilizamos la AUC-ROC, que mide si el modelo ordena bien el riesgo sin decidir todavía qué reservas recibirán una alerta. La regresión logística obtuvo una AUC media de 0,694; Random Forest llegó a 0,698 y </a:t>
            </a:r>
            <a:r>
              <a:rPr lang="es-ES" dirty="0" err="1"/>
              <a:t>XGBoost</a:t>
            </a:r>
            <a:r>
              <a:rPr lang="es-ES" dirty="0"/>
              <a:t> a 0,700. La ventaja de </a:t>
            </a:r>
            <a:r>
              <a:rPr lang="es-ES" dirty="0" err="1"/>
              <a:t>XGBoost</a:t>
            </a:r>
            <a:r>
              <a:rPr lang="es-ES" dirty="0"/>
              <a:t> fue pequeña, pero obtuvo el mejor resultado con el criterio que habíamos fijado.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D04E-443E-4FA0-8326-0DAA8FF4EF5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3765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2659-F76D-5867-37A6-EA233FDD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1BB49F-108D-B510-3549-F02B92CF3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F37E5F-C7E3-F8C5-D314-610765EDE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Una vez cerrado el modelo, lo evaluamos en el periodo de test. </a:t>
            </a:r>
            <a:r>
              <a:rPr lang="es-ES" dirty="0" err="1"/>
              <a:t>XGBoost</a:t>
            </a:r>
            <a:r>
              <a:rPr lang="es-ES" dirty="0"/>
              <a:t> alcanzó una AUC de 0,764 y detectó el 84 % de las cancelaciones. Esto último es el </a:t>
            </a:r>
            <a:r>
              <a:rPr lang="es-ES" dirty="0" err="1"/>
              <a:t>recall</a:t>
            </a:r>
            <a:r>
              <a:rPr lang="es-ES" dirty="0"/>
              <a:t>. Desde el punto de vista de negocio, me interesa especialmente: una reserva que acabará cancelándose y no recibe una alerta queda fuera de cualquier revisión preventiva.</a:t>
            </a:r>
          </a:p>
          <a:p>
            <a:r>
              <a:rPr lang="es-ES" dirty="0"/>
              <a:t>Pero el umbral de 0,25 no se eligió para maximizar el </a:t>
            </a:r>
            <a:r>
              <a:rPr lang="es-ES" dirty="0" err="1"/>
              <a:t>recall</a:t>
            </a:r>
            <a:r>
              <a:rPr lang="es-ES" dirty="0"/>
              <a:t>. Se fijó mediante F1, una medida que combina detección y precisión, antes de evaluar el test, porque todavía no conocíamos los costes de negocio. Con ese umbral, el modelo señala el 58 % de las reservas y genera 7.611 alertas sobre reservas que finalmente no se cancelaron. Por eso debemos contrastar con el equipo cuántos contactos podemos asumir y cuánto cuestan.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A756D4-EE6B-EE6C-086B-C85A5D818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D04E-443E-4FA0-8326-0DAA8FF4EF5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7029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También analizamos qué variables influyen más en las predicciones de </a:t>
            </a:r>
            <a:r>
              <a:rPr lang="es-ES" dirty="0" err="1"/>
              <a:t>XGBoost</a:t>
            </a:r>
            <a:r>
              <a:rPr lang="es-ES" dirty="0"/>
              <a:t>. La primera es la antelación, en línea con lo que vimos en el análisis exploratorio. Le siguen el tipo de cliente, el segmento de mercado, el hotel y el identificador del agente. El canal de distribución destacaba al observarlo por separado, pero tiene menos peso cuando el modelo combina todas las variables. Esta explicación nos ayuda a entender sus puntuaciones; no significa que cambiar una de estas características vaya a evitar una cancelación.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D04E-443E-4FA0-8326-0DAA8FF4EF5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2187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Mi propuesta es calcular el riesgo cuando se crea cada reserva y dar a </a:t>
            </a:r>
            <a:r>
              <a:rPr lang="es-ES" dirty="0" err="1"/>
              <a:t>Revenue</a:t>
            </a:r>
            <a:r>
              <a:rPr lang="es-ES" dirty="0"/>
              <a:t> Management una lista ordenada para su revisión. Empezaría con un piloto sencillo: enviar un recordatorio por email a una muestra de reservas señaladas. Mi hipótesis es que el email tiene un coste bajo; las llamadas requieren más tiempo y podrían reservarse para los casos de mayor prioridad, si el equipo lo considera viable.</a:t>
            </a:r>
          </a:p>
          <a:p>
            <a:r>
              <a:rPr lang="es-ES" dirty="0"/>
              <a:t>Antes debemos comprobar que las variables del modelo están disponibles realmente al reservar. En el piloto asignaríamos al azar reservas </a:t>
            </a:r>
            <a:r>
              <a:rPr lang="es-ES"/>
              <a:t>elegibles a </a:t>
            </a:r>
            <a:r>
              <a:rPr lang="es-ES" dirty="0"/>
              <a:t>recibir el contacto o seguir el proceso habitual. Así podríamos medir su efecto sobre las cancelaciones y, registrando los costes, sobre el ingreso neto. También mediríamos la carga de trabajo y la reacción de los clientes.</a:t>
            </a:r>
          </a:p>
          <a:p>
            <a:r>
              <a:rPr lang="es-ES" dirty="0"/>
              <a:t>Con esos resultados decidiríamos qué intervención merece la pena y revisaríamos el umbral. Después validaríamos el modelo en un periodo nuevo y estudiaríamos su comportamiento por hotel y en las reservas que ahora quedan fuera. Esa sería la base para decidir si ampliamos su uso.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D04E-443E-4FA0-8326-0DAA8FF4EF5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259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2C8FB-C89A-40DC-BB33-6DD45D792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C17CBE-789A-90E1-3484-9803A77E4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3A1AFA-6E24-692C-5961-687426737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032D8A-A286-7767-73DA-065D8015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432365-3F4B-6528-615B-60D2F6E1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06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74708-46A5-4788-BCFC-8FF334747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E0067A-53B6-FC1D-C899-6379B6015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865994-ECAB-9283-926D-5BC64E5D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8F39A0-4B37-C2B0-522A-54A91816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C3FCA9-BA29-4D7A-B579-9DB4497BB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266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FD8D9-48CF-20B7-0EB5-58B9580FA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A9E274-ADC9-ADB1-1DB0-502B993CD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96F7F-FD1C-C9D4-2511-6DE06007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1BA1EE-AC46-10AD-DE65-FEF0D4DAC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73C0B1-7225-5C71-374E-49AF0083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906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2B95E-C7E0-C06D-04A5-68AF119EC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609518-376D-32CF-9787-E74CD7C48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3AB3B4-BCC2-3B1A-356B-E4B051B40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4E1566-C227-763B-B881-7C7345DC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73F441-72E3-90E4-04A1-F8A98D04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971919-21B8-2D2D-CF7F-1CDE759D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968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7499E-71F0-2ED3-FC54-70F6199AF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0F8880-6DC5-3431-B19B-5BBA5B28B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9C1184-0556-1812-D0FF-4835396FB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F04A5B-8EBD-348E-2B70-7612BFA82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7B6D7D3-AE10-6F4D-9199-245A54A58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7AF9CFC-0C71-6574-1F57-27242498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EC71A44-D7B0-89A5-1473-27E2AA344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16295F0-BE0A-146F-FB1B-4627AD58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51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DBA02-4D8F-A008-E106-799D46D48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D9E214E-10BF-0EAB-660A-1C41D274A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D7CBAE-8596-16D8-AC6C-C9305D59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E37055-A4E0-D7FC-CC79-B9C6929B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1407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86555F2-FD06-32CB-138D-9AFFE0AE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990CE64-D50A-0753-89A1-CF0E9A46B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991A8A-F4F7-7243-4DB0-D708C98D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689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A6FA0-1967-CA80-0AE6-7D090988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3B5C01-55A2-AB5B-D691-7A770DDB3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7204DA-06D1-D8C9-81C1-EE1E26613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F5C04E-EC7D-CD33-6D32-DF316D1E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532BFD-C9D1-2D17-FAE2-E4B56326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636DF5-D78D-A58C-304F-964A9A94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9415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D84C2-597B-9568-B49E-16FD69859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D01FB3-C1DC-1F1B-48DB-53EED7EAD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499361-029B-C8FD-BC55-487CD5444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233CCF-9BE5-1A0E-18EA-965BCBA1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848FD-E686-D632-E8EA-08FAE01C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12EFF9-A802-8170-4C64-F960EF71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92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8B531-8B31-5F0E-E252-039A1E8C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24D0CF-1CBA-CFF2-15C0-69015B138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AA3737-E2B9-F200-471E-84648A72E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243CD1-66DB-C2ED-2C14-551BECEA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7883B2-B736-E058-2F92-AEECEE59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6489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AA3720-468A-8437-1ED2-BCA0CC7D8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530502-E597-6612-806D-9C90D918C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4F1E40-DBCD-5576-DB3C-692C86C0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79AA55-C056-A65E-EAB8-E68EBD543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968332-8A40-D4AE-C622-0E2304A2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661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272A8-DD60-84F6-2F9C-7A50405D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B0AD8F-F560-EB07-0B99-911544931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24E1EA-3AE9-AD64-E596-2A828BFBD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494EE1-AEBD-91DA-2914-ECE97889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17AC44-0EC1-9BB5-684E-F76A3370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82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42F517-216F-41BB-13E3-034F3239B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21FE94-A462-22CD-D7BF-59E972749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0BBBF2-0123-B39C-5FC8-43D922887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56221-0079-448E-AC00-819563067044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91A4A7-69D0-F91F-885C-41D3E7FF4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CCFE16-5A2F-4E86-ED01-EF3F3D402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997EA-A5BC-4F4E-8ED4-CCD108DB30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711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6595071-FF34-1F01-5778-38E3DBE3F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 fontScale="90000"/>
          </a:bodyPr>
          <a:lstStyle/>
          <a:p>
            <a:r>
              <a:rPr lang="es-ES" sz="5400" dirty="0"/>
              <a:t>Predicción de Cancelación de Reservas Hoteleras </a:t>
            </a:r>
            <a:endParaRPr lang="es-ES" sz="5200" dirty="0">
              <a:solidFill>
                <a:schemeClr val="tx2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E949D0-7480-D462-AFCF-8E41CA17A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2"/>
                </a:solidFill>
              </a:rPr>
              <a:t>Carlos Peñalver Pérez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06098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AB429A59-5898-4BDF-41AC-A443645A68E2}"/>
              </a:ext>
            </a:extLst>
          </p:cNvPr>
          <p:cNvSpPr txBox="1"/>
          <p:nvPr/>
        </p:nvSpPr>
        <p:spPr>
          <a:xfrm>
            <a:off x="9452577" y="6411823"/>
            <a:ext cx="27286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i="1" dirty="0"/>
              <a:t>Análisis descriptivo con datos de entrenamiento</a:t>
            </a:r>
            <a:r>
              <a:rPr lang="es-ES" sz="900" dirty="0"/>
              <a:t>.</a:t>
            </a:r>
          </a:p>
        </p:txBody>
      </p:sp>
      <p:pic>
        <p:nvPicPr>
          <p:cNvPr id="17" name="Marcador de contenido 16">
            <a:extLst>
              <a:ext uri="{FF2B5EF4-FFF2-40B4-BE49-F238E27FC236}">
                <a16:creationId xmlns:a16="http://schemas.microsoft.com/office/drawing/2014/main" id="{243A3F38-2E9D-7EEE-9F96-5DBB91CE7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56" y="861628"/>
            <a:ext cx="10269488" cy="51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08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0ED844A2-1D0F-80F9-0741-ED638D7BB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89" y="950694"/>
            <a:ext cx="9913221" cy="495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77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CB129C1-8F15-BBE7-ACB8-3541AE6B7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318" y="1771896"/>
            <a:ext cx="7893766" cy="331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0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58272-5985-C012-0977-E9FF726B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E998DA48-B8C4-6FBB-3398-30A690332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420" y="1237006"/>
            <a:ext cx="9301159" cy="438398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647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DD92434-D9C0-0C06-B749-B81923D8E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905" y="1144952"/>
            <a:ext cx="9136190" cy="456809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86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22DF31E-F16C-99E0-2E41-65919E69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706" y="2432333"/>
            <a:ext cx="7276282" cy="1837349"/>
          </a:xfrm>
        </p:spPr>
        <p:txBody>
          <a:bodyPr>
            <a:normAutofit/>
          </a:bodyPr>
          <a:lstStyle/>
          <a:p>
            <a:pPr algn="ctr"/>
            <a:r>
              <a:rPr lang="es-ES" sz="3600" dirty="0"/>
              <a:t>Propuesta de uso y próximos pasos</a:t>
            </a:r>
            <a:endParaRPr lang="es-ES" sz="3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27403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_presentacion_cancelaciones_hoteleras.js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tema_presentacion_cancelaciones_hoteleras</Template>
  <TotalTime>76</TotalTime>
  <Words>879</Words>
  <Application>Microsoft Office PowerPoint</Application>
  <PresentationFormat>Panorámica</PresentationFormat>
  <Paragraphs>23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tema_presentacion_cancelaciones_hoteleras.json</vt:lpstr>
      <vt:lpstr>Predicción de Cancelación de Reservas Hoteleras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Propuesta de uso y próximos pasos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Peñalver Perez, Carlos</dc:creator>
  <cp:lastModifiedBy>Peñalver Perez, Carlos</cp:lastModifiedBy>
  <cp:revision>1</cp:revision>
  <dcterms:created xsi:type="dcterms:W3CDTF">2026-09-23T17:37:27Z</dcterms:created>
  <dcterms:modified xsi:type="dcterms:W3CDTF">2026-09-24T15:47:07Z</dcterms:modified>
</cp:coreProperties>
</file>